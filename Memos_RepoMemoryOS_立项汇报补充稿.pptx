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60120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Memos：从代码仓到记忆仓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Memory OS / AgentOS 记忆文件系统创新项目立项补充稿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685800" y="2176272"/>
            <a:ext cx="55778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788920"/>
            <a:ext cx="484632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代码是新的二进制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记忆是新的源码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是新的编译器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459028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面向长程自主编程智能体的认知中间层：让人类与 Agent 面向意图、约束、决策、经验和证明协作，而不是只面向代码文件协作。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83880" y="1097280"/>
            <a:ext cx="2377440" cy="804672"/>
          </a:xfrm>
          <a:prstGeom prst="roundRect">
            <a:avLst>
              <a:gd name="adj" fmla="val 9091"/>
            </a:avLst>
          </a:prstGeom>
          <a:solidFill>
            <a:srgbClr val="FBECE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Source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2600" y="1938528"/>
            <a:ext cx="0" cy="54864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73568" y="2542032"/>
            <a:ext cx="27889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24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73568" y="28437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Compiler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72600" y="3593592"/>
            <a:ext cx="0" cy="521208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83880" y="4187952"/>
            <a:ext cx="237744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8989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4443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Binary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50749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执行事实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2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914400" y="1143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72768" y="1298448"/>
            <a:ext cx="804672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11247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范式判断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16128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从“人写代码”到“人/Agent 共同维护工程记忆”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14400" y="202082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72768" y="2176272"/>
            <a:ext cx="804672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2002536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问题与机会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20391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&gt;10小时、&gt;3000行、跨仓任务的核心瓶颈是记忆与验证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14400" y="28986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72768" y="3054096"/>
            <a:ext cx="804672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28803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总体方案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53712" y="291693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Memos：Repo Memory OS / AgentOS 的记忆文件系统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914400" y="37764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572768" y="3931920"/>
            <a:ext cx="804672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5184" y="37581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53712" y="37947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Compiler、Scheduler、Graph、Verification、Control Plane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914400" y="46542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572768" y="4809744"/>
            <a:ext cx="804672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15184" y="4636008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执行策略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46725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三阶段路线图、关键交付、资源壁垒与决策申请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914400" y="5669280"/>
            <a:ext cx="1060704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本稿定位：在原 Coding Agent 创新项目“感知规划、并行执行、评估优化”之外，补充一个更长期、更底层的“记忆仓 / 记忆文件系统”方向。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核心判断：代码是新的二进制，记忆是新的源码，Agent 是新的编译器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3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02920" y="896112"/>
            <a:ext cx="73152" cy="292608"/>
          </a:xfrm>
          <a:prstGeom prst="rect">
            <a:avLst/>
          </a:prstGeom>
          <a:solidFill>
            <a:srgbClr val="595757"/>
          </a:solidFill>
          <a:ln w="12700">
            <a:solidFill>
              <a:srgbClr val="59575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8778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传统软件工程链路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273552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2552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Agentic 软件工程链路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1508760"/>
            <a:ext cx="685800" cy="0"/>
          </a:xfrm>
          <a:prstGeom prst="line">
            <a:avLst/>
          </a:prstGeom>
          <a:noFill/>
          <a:ln w="15240">
            <a:solidFill>
              <a:srgbClr val="A9A9A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" y="1261872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0160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517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人类意图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977640" y="1508760"/>
            <a:ext cx="685800" cy="0"/>
          </a:xfrm>
          <a:prstGeom prst="line">
            <a:avLst/>
          </a:prstGeom>
          <a:noFill/>
          <a:ln w="15240">
            <a:solidFill>
              <a:srgbClr val="A9A9A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1261872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016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517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源代码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989320" y="1508760"/>
            <a:ext cx="685800" cy="0"/>
          </a:xfrm>
          <a:prstGeom prst="line">
            <a:avLst/>
          </a:prstGeom>
          <a:noFill/>
          <a:ln w="15240">
            <a:solidFill>
              <a:srgbClr val="A9A9A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54880" y="1261872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0160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517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编译器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001000" y="1508760"/>
            <a:ext cx="685800" cy="0"/>
          </a:xfrm>
          <a:prstGeom prst="line">
            <a:avLst/>
          </a:prstGeom>
          <a:noFill/>
          <a:ln w="15240">
            <a:solidFill>
              <a:srgbClr val="A9A9A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1261872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016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517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二进制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778240" y="1261872"/>
            <a:ext cx="1325880" cy="694944"/>
          </a:xfrm>
          <a:prstGeom prst="roundRect">
            <a:avLst>
              <a:gd name="adj" fmla="val 7895"/>
            </a:avLst>
          </a:prstGeom>
          <a:solidFill>
            <a:srgbClr val="F5F5F5"/>
          </a:solidFill>
          <a:ln w="10160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51790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运行时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084832" y="4069080"/>
            <a:ext cx="521208" cy="0"/>
          </a:xfrm>
          <a:prstGeom prst="line">
            <a:avLst/>
          </a:prstGeom>
          <a:noFill/>
          <a:ln w="1778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" y="3675888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8770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人类意图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团队记忆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050792" y="4069080"/>
            <a:ext cx="566928" cy="0"/>
          </a:xfrm>
          <a:prstGeom prst="line">
            <a:avLst/>
          </a:prstGeom>
          <a:noFill/>
          <a:ln w="1778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97480" y="3675888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FBECEF"/>
          </a:solidFill>
          <a:ln w="13970">
            <a:solidFill>
              <a:srgbClr val="6A4C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4056" y="38770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Memory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工程源码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062472" y="4069080"/>
            <a:ext cx="566928" cy="0"/>
          </a:xfrm>
          <a:prstGeom prst="line">
            <a:avLst/>
          </a:prstGeom>
          <a:noFill/>
          <a:ln w="1778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709160" y="3675888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1F8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45736" y="38770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Coding Agent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概率编译器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8074152" y="4069080"/>
            <a:ext cx="566928" cy="0"/>
          </a:xfrm>
          <a:prstGeom prst="line">
            <a:avLst/>
          </a:prstGeom>
          <a:noFill/>
          <a:ln w="1778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720840" y="3675888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5957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7416" y="38770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Diff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执行产物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8732520" y="3675888"/>
            <a:ext cx="148132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3970">
            <a:solidFill>
              <a:srgbClr val="4E9D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69096" y="387705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Proof/CI</a:t>
            </a:r>
            <a:endParaRPr lang="en-US" sz="970" dirty="0"/>
          </a:p>
          <a:p>
            <a:pPr algn="ctr" indent="0" marL="0">
              <a:buNone/>
            </a:pPr>
            <a:r>
              <a:rPr lang="en-US" sz="97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验证事实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713232" y="5084064"/>
            <a:ext cx="3611880" cy="768096"/>
          </a:xfrm>
          <a:prstGeom prst="roundRect">
            <a:avLst>
              <a:gd name="adj" fmla="val 9524"/>
            </a:avLst>
          </a:prstGeom>
          <a:solidFill>
            <a:srgbClr val="FFF7F7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" y="521208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规定应该是什么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59536" y="5559552"/>
            <a:ext cx="33192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意图、约束、决策、策略、历史失败、验收标准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4498848" y="5084064"/>
            <a:ext cx="3611880" cy="768096"/>
          </a:xfrm>
          <a:prstGeom prst="roundRect">
            <a:avLst>
              <a:gd name="adj" fmla="val 9524"/>
            </a:avLst>
          </a:prstGeom>
          <a:solidFill>
            <a:srgbClr val="FAFAFA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45152" y="521208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表达现在是什么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645152" y="5559552"/>
            <a:ext cx="331927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仍是执行事实、部署事实、测试事实，不被取消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8284464" y="5084064"/>
            <a:ext cx="2880360" cy="768096"/>
          </a:xfrm>
          <a:prstGeom prst="roundRect">
            <a:avLst>
              <a:gd name="adj" fmla="val 9524"/>
            </a:avLst>
          </a:prstGeom>
          <a:solidFill>
            <a:srgbClr val="F7FC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0768" y="521208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Proof 证明两者一致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430768" y="5559552"/>
            <a:ext cx="2587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测试、CI、静态分析、审查、运行时信号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为什么现在是时候：瓶颈从“能否写代码”迁移到“能否继承工程记忆”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4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777240" y="11155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1618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 补全：局部低熵代码生成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1389888"/>
            <a:ext cx="886968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880360" y="11155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80360" y="1618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同步协作：人机 prompt-response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77640" y="1389888"/>
            <a:ext cx="886968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983480" y="11155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83480" y="1618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长程 Agent：云端自主执行任务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886968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086600" y="11155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1618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软件工厂：多 Agent 持续在线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83880" y="1389888"/>
            <a:ext cx="886968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89720" y="111556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89720" y="1618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记忆原生：面向记忆编程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" y="2743200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287121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代码生成边际成本下降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3544" y="3218688"/>
            <a:ext cx="49651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同类代码、样板代码和局部改动会越来越便宜，长期差异化转移到系统意图和工程约束。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446520" y="2743200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92824" y="287121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长程任务暴露记忆短板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92824" y="3218688"/>
            <a:ext cx="49651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跨仓开发需要记住历史决策、依赖路径、失败原因、测试证明；一次性上下文无法支撑。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77240" y="3977640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410565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Agent 需要共享状态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23544" y="4453128"/>
            <a:ext cx="49651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并行执行不是简单多开窗口，而是要共享工作记忆、依赖关系、验收标准和交接语义。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6446520" y="3977640"/>
            <a:ext cx="52578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92824" y="410565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企业落地需要治理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92824" y="4453128"/>
            <a:ext cx="4965192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权限、安全、审计、回滚、责任边界要求一层可控的 repo memory control plane。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777240" y="5623560"/>
            <a:ext cx="10607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结论：Coding Agent 爆发带来一个横切所有 harness 的基础设施机会——谁掌握 repo 的长期记忆、执行轨迹与验证闭环，谁就掌握 Agent 的执行权。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新旧范式对比：从 Code-native Repo 到 Memory-native Repo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5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31520" y="1143000"/>
            <a:ext cx="5029200" cy="4892040"/>
          </a:xfrm>
          <a:prstGeom prst="roundRect">
            <a:avLst>
              <a:gd name="adj" fmla="val 1495"/>
            </a:avLst>
          </a:prstGeom>
          <a:solidFill>
            <a:srgbClr val="F7F7F7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143000"/>
            <a:ext cx="5029200" cy="4892040"/>
          </a:xfrm>
          <a:prstGeom prst="roundRect">
            <a:avLst>
              <a:gd name="adj" fmla="val 1495"/>
            </a:avLst>
          </a:prstGeom>
          <a:solidFill>
            <a:srgbClr val="FFF7F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344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旧范式：代码仓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344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新范式：记忆仓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18928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第一公民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1965960" y="18928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代码、文件、commit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6446520" y="1892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意图、约束、决策、证明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68680" y="26060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开发界面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1965960" y="26060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IDE / 文件编辑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446520" y="260604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DSL / 任务意图 / 记忆 diff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68680" y="3319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上下文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1965960" y="33192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单次 session 临时拼接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446520" y="331927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 session / 跨 agent / 跨团队持久记忆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68680" y="40325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协作对象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1965960" y="40325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diff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446520" y="403250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diff + memory diff + proof diff + trace diff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68680" y="4745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质量控制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1965960" y="47457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最终测试是否通过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446520" y="474573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过程轨迹、历史约束、验证证据闭环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868680" y="5458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资产壁垒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1965960" y="545896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代码本身容易被生成/重写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6446520" y="54589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组织工程记忆不可复制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14400" y="619963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 记录代码历史；Memos 记录工程记忆。Memos 不替代 GitHub/GitLab，而是在其上建立 memory-native repository layer。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长程软件工程任务的本质：偏差沿链路放大，最终导致范围漏、验证弱、收敛难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6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920240" y="1874520"/>
            <a:ext cx="41148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FFF7F7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371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96696" y="1344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需求理解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1728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业务规则隐含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验收边界不清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94760" y="1874520"/>
            <a:ext cx="41148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77440" y="123444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1371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71216" y="1344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仓库定位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42032" y="1728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关键文件/符号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跨仓依赖找不全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1874520"/>
            <a:ext cx="41148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51960" y="123444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FFF7F7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1371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5736" y="1344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任务规划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16552" y="1728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计划遇依赖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后失效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543800" y="1874520"/>
            <a:ext cx="41148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126480" y="123444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371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0256" y="1344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跨模块实现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91072" y="1728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漏改/冲突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局部最优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418320" y="1874520"/>
            <a:ext cx="41148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01000" y="123444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FFF7F7"/>
          </a:solidFill>
          <a:ln w="1016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0728" y="1371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94776" y="1344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构建测试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65592" y="1728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不会补验证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回归链缺失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875520" y="1234440"/>
            <a:ext cx="146304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85248" y="13716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69296" y="134416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回归收敛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040112" y="172821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不知道是否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改全改对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" y="288036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28620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当前方案在长程任务中容易失效的四类根因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" y="3429000"/>
            <a:ext cx="5166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35570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 Agent 过载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77824" y="3904488"/>
            <a:ext cx="4873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澄清、定位、实现、验证和恢复由同一主体承担，导致上下文过载与目标漂移。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309360" y="3429000"/>
            <a:ext cx="5166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55664" y="3557016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仓库级感知不足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455664" y="3904488"/>
            <a:ext cx="4873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复杂私有仓存在接口、配置、测试、历史共变等隐性依赖，单纯文本检索召回不完整。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31520" y="4489704"/>
            <a:ext cx="5166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6177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计划与验证薄弱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77824" y="4965192"/>
            <a:ext cx="4873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更多是在“直接试着改”，而不是先形成可执行计划、验收标准与回归闭环。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309360" y="4489704"/>
            <a:ext cx="51663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55664" y="46177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失败不可恢复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55664" y="4965192"/>
            <a:ext cx="48737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中途走偏后缺少阶段切片、问题归因、断点恢复与经验写回，只能整体返工。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总体定位：Memos 是横在代码仓和所有 Coding Agent 之间的认知中间层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7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743200" y="2788920"/>
            <a:ext cx="1920240" cy="0"/>
          </a:xfrm>
          <a:prstGeom prst="line">
            <a:avLst/>
          </a:prstGeom>
          <a:noFill/>
          <a:ln w="1524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2788920"/>
            <a:ext cx="1965960" cy="-777240"/>
          </a:xfrm>
          <a:prstGeom prst="line">
            <a:avLst/>
          </a:prstGeom>
          <a:noFill/>
          <a:ln w="1524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60920" y="2788920"/>
            <a:ext cx="1965960" cy="0"/>
          </a:xfrm>
          <a:prstGeom prst="line">
            <a:avLst/>
          </a:prstGeom>
          <a:noFill/>
          <a:ln w="1524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2788920"/>
            <a:ext cx="1965960" cy="777240"/>
          </a:xfrm>
          <a:prstGeom prst="line">
            <a:avLst/>
          </a:prstGeom>
          <a:noFill/>
          <a:ln w="1524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89320" y="4572000"/>
            <a:ext cx="0" cy="-731520"/>
          </a:xfrm>
          <a:prstGeom prst="line">
            <a:avLst/>
          </a:prstGeom>
          <a:noFill/>
          <a:ln w="152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1572768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F7F7F7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181051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Repo / DevOps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23957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/ PR / Issue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/ Test / Review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事故 / 文档 / 运行信号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6112" y="3429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 / GitLab / CodeArts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572000" y="1298448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FFF7F7"/>
          </a:solidFill>
          <a:ln w="1778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572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72000" y="193852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Memory 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487168"/>
            <a:ext cx="2057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Graph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Scheduler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Compiler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Verification Harness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Control Plane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372600" y="169164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8562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372600" y="246888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D5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26334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72600" y="3246120"/>
            <a:ext cx="21488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1F8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72600" y="341071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Cursor / OpenCode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77072" y="41605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 Agent 平等接入：MCP / HTTP / SQL / Cypher / AGENTS.md / CLAUDE.md / Skills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4315968" y="4736592"/>
            <a:ext cx="3346704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495604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 / Agent 面向“记忆”编程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68680" y="571500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核心：Agent 可以换，模型可以换，IDE 可以换；组织级工程记忆、验证链路、权限治理和执行轨迹沉淀在 Memos。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AgentOS / 灵台方向可吸收的设计原则：薄工具、厚记忆、按需激活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8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594360" y="1024128"/>
            <a:ext cx="1828800" cy="256032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灵台原则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1024128"/>
            <a:ext cx="3931920" cy="256032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核心思想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83680" y="1024128"/>
            <a:ext cx="4709160" cy="256032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采纳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1408176"/>
            <a:ext cx="10698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463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工具趋零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560320" y="1463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高阶能力内化为情境激活，而非无限增加 command/API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739128" y="14630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暴露最小记忆原语，复杂流程由 skill/strategy 组合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594360" y="2121408"/>
            <a:ext cx="10698480" cy="56692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76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按需加载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560320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是 Tool Schema 的延伸，解决 token 与注意力分散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6739128" y="21762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记忆按 PPR/RRF 情境激活，不整体塞进 prompt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594360" y="2834640"/>
            <a:ext cx="10698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889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凝蜕写回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560320" y="28895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只在压力点把过程沉淀为记忆，避免持续总结烧 token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739128" y="28895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merge / session 结束 / context 80% / 失败归因后触发 writeback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594360" y="3547872"/>
            <a:ext cx="10698480" cy="56692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6027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目录即 Agent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2560320" y="36027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路径即地址、锁和真实状态，减少抽象 registry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739128" y="360273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MemosFS 用路径和 scope 管理记忆、权限与 ownership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94360" y="4261104"/>
            <a:ext cx="106984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315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通知常驻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2560320" y="4315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异步消息挂在 agent 末尾，不打断 tool call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739128" y="431596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update 作为 ambient context 生效，下一轮立即可见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594360" y="4974336"/>
            <a:ext cx="10698480" cy="566928"/>
          </a:xfrm>
          <a:prstGeom prst="rect">
            <a:avLst/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0292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自组织分工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2560320" y="5029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 Agent 通过广告/求助形成职业分化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6739128" y="502920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能力注册 + 需求广播 + 共享 working memory 驱动协同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749808" y="60167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设计取舍：不是做更大的 RAG，而是做“何时激活、何时禁止、何时写回、如何验证”的 Memory Scheduler。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是 AgentOS 的记忆文件系统：文件系统决定 Agent 如何读取、写入、继承与迁移记忆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9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987552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9692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AgentOS 核心组件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58191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Process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1563624" y="15819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/ Subagent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3108960" y="1508760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58191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Scheduler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986784" y="158191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任务调度 / 关键路径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85800" y="2167128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7F7"/>
          </a:solidFill>
          <a:ln w="1524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24028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Filesystem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1563624" y="22402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MemosFS / 记忆仓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3108960" y="2167128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82112" y="224028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Syscall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3986784" y="22402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 read/write/query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85800" y="2825496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8986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563624" y="28986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ACL / Secret Boundary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3108960" y="2825496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8986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IPC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986784" y="28986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Working Memory / Mailbox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685800" y="3483864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55701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Package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563624" y="35570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 / Recipe / Playbook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3108960" y="3483864"/>
            <a:ext cx="2157984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62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355701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Observability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3986784" y="355701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 / Activation Log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6172200" y="987552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9692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MemosFS 的四个基础能力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1499616"/>
            <a:ext cx="4983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499616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1591056"/>
            <a:ext cx="4727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Version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6428232" y="184708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每条记忆有版本、来源、置信度与有效范围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263640" y="2368296"/>
            <a:ext cx="4983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3640" y="2368296"/>
            <a:ext cx="73152" cy="658368"/>
          </a:xfrm>
          <a:prstGeom prst="rect">
            <a:avLst/>
          </a:prstGeom>
          <a:solidFill>
            <a:srgbClr val="2D5B9A"/>
          </a:solidFill>
          <a:ln w="12700">
            <a:solidFill>
              <a:srgbClr val="2D5B9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2459736"/>
            <a:ext cx="4727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 / Merge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6428232" y="271576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方案并行探索时可建立 memory branch，合并时处理约束冲突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6263640" y="3236976"/>
            <a:ext cx="4983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63640" y="3236976"/>
            <a:ext cx="73152" cy="658368"/>
          </a:xfrm>
          <a:prstGeom prst="rect">
            <a:avLst/>
          </a:prstGeom>
          <a:solidFill>
            <a:srgbClr val="ED6D00"/>
          </a:solidFill>
          <a:ln w="12700">
            <a:solidFill>
              <a:srgbClr val="ED6D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3328416"/>
            <a:ext cx="4727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Diff / Blame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6428232" y="358444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 PR 伴随 memory diff，可追踪谁/哪个 Agent 写入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263640" y="4105656"/>
            <a:ext cx="4983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63640" y="4105656"/>
            <a:ext cx="73152" cy="65836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4197096"/>
            <a:ext cx="4727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Permission / Audit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6428232" y="4453128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 repo、模块、人员、Agent 权限过滤记忆，保留审计链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868680" y="5193792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FFF7F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120" y="5413248"/>
            <a:ext cx="10168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一句话：agent 可以换，模型可以换，IDE 可以换；但 AgentOS 需要一个可持久、可权限控制、可查询、可版本化的记忆文件系统。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六层记忆栈：把代码、历史、策略、状态与外部知识编译成可执行工程记忆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10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10287000" cy="530352"/>
          </a:xfrm>
          <a:prstGeom prst="roundRect">
            <a:avLst>
              <a:gd name="adj" fmla="val 6897"/>
            </a:avLst>
          </a:prstGeom>
          <a:solidFill>
            <a:srgbClr val="FFF7F7"/>
          </a:solidFill>
          <a:ln w="1143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0424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DSL / Programming Interface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3977640" y="1033272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人类/Agent 直接声明 intent、constraint、decision、strategy、proof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914400" y="1527048"/>
            <a:ext cx="102870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6A4C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6550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Intent Memory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977640" y="1645920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我们要做什么、为什么：覆盖 PRD/RFC/需求澄清/验收边界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914400" y="2139696"/>
            <a:ext cx="102870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2D5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2677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Semantic Memory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3977640" y="2258568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概念—实体—关系图：代码、接口、模块、数据表、测试与业务语义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914400" y="2752344"/>
            <a:ext cx="102870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1F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8803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Procedural Memory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3977640" y="2871216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可复用策略/playbook：修复路径、迁移流程、调试方法、编码规范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914400" y="3364992"/>
            <a:ext cx="102870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ED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4930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Episodic Memory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3977640" y="3483864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过去 coding session 的轨迹、失败、验证、人工干预与结果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14400" y="3977640"/>
            <a:ext cx="102870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4E9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1056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Working Memory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3977640" y="4096512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当前任务的共享黑板：中间结论、依赖状态、agent 交接信息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914400" y="4590288"/>
            <a:ext cx="1028700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767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7183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76767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Reference Memory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3977640" y="4709160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外部知识固化：论文、规范、标准、产品约束、领域知识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914400" y="5202936"/>
            <a:ext cx="10287000" cy="530352"/>
          </a:xfrm>
          <a:prstGeom prst="roundRect">
            <a:avLst>
              <a:gd name="adj" fmla="val 6897"/>
            </a:avLst>
          </a:prstGeom>
          <a:solidFill>
            <a:srgbClr val="F0F0F0"/>
          </a:solidFill>
          <a:ln w="11430">
            <a:solidFill>
              <a:srgbClr val="23181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43000" y="533095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Substrate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3977640" y="5321808"/>
            <a:ext cx="6995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 + Vector + SQL + KV：支持多跳检索、结构召回、轨迹查询与权限过滤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96112" y="598932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关键原则：Memory 一旦被 declare 或从轨迹中凝蜕出来，应在所有接入 Agent 中自动、按需、可审计地生效。</a:t>
            </a:r>
            <a:endParaRPr lang="en-US" sz="10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DSL + MemosFS：让“记忆仓”成为可编辑、可版本化、可编译的源码层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DSL 基本操作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325880"/>
            <a:ext cx="5074920" cy="4160520"/>
          </a:xfrm>
          <a:prstGeom prst="roundRect">
            <a:avLst>
              <a:gd name="adj" fmla="val 1319"/>
            </a:avLst>
          </a:prstGeom>
          <a:solidFill>
            <a:srgbClr val="231815"/>
          </a:solidFill>
          <a:ln w="12700">
            <a:solidFill>
              <a:srgbClr val="23181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54480"/>
            <a:ext cx="461772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mem.declare_intent("支持 partial refund",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scope="payment/refund")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mem.declare_constraint("不得向前端泄漏 PII",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scope="*", priority="critical")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mem.declare_decision("选 Postgres JSONB",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because="灵活 schema 与索引")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mem.declare_strategy(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when="ImportError + numpy",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do="查 virtualenv &gt; pin 版本 &gt; fallback")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mem.query("之前怎么处理分页？")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626364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MemosFS 目录示意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074920" cy="4160520"/>
          </a:xfrm>
          <a:prstGeom prst="roundRect">
            <a:avLst>
              <a:gd name="adj" fmla="val 1319"/>
            </a:avLst>
          </a:prstGeom>
          <a:solidFill>
            <a:srgbClr val="FAFAF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0528" y="1572768"/>
            <a:ext cx="461772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.memos/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intents/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refund.partial_refund.yaml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constraints/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pii.no_frontend_leak.yaml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decisions/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postgres_jsonb_over_mysql.yaml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strategies/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debug.gateway_timeout.yaml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episodes/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2026-05-17-agent-run.yaml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proofs/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refund.contract_tests.yaml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agents/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security_reviewer.yaml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recipes/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database_migration.yaml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777240" y="577900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DSL 是“新源码语言”，MemosFS 是“新文件系统”；两者可编译成 AGENTS.md / CLAUDE.md / Skills / MCP context / PR checklist / CI policy。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面向记忆编程工作流：每次代码变更都应从记忆编译、由证明验证、再写回记忆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12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414016" y="1965960"/>
            <a:ext cx="448056" cy="0"/>
          </a:xfrm>
          <a:prstGeom prst="line">
            <a:avLst/>
          </a:prstGeom>
          <a:noFill/>
          <a:ln w="152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1325880"/>
            <a:ext cx="170078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481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61288" y="14630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187452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人类/Agent 声明 intent、constraint、decision、strategy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81728" y="1965960"/>
            <a:ext cx="448056" cy="0"/>
          </a:xfrm>
          <a:prstGeom prst="line">
            <a:avLst/>
          </a:prstGeom>
          <a:noFill/>
          <a:ln w="152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99232" y="1325880"/>
            <a:ext cx="170078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1481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4630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63824" y="187452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Scheduler 选择最小必要记忆，压缩成 context pack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49440" y="1965960"/>
            <a:ext cx="448056" cy="0"/>
          </a:xfrm>
          <a:prstGeom prst="line">
            <a:avLst/>
          </a:prstGeom>
          <a:noFill/>
          <a:ln w="152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66944" y="1325880"/>
            <a:ext cx="1700784" cy="1280160"/>
          </a:xfrm>
          <a:prstGeom prst="roundRect">
            <a:avLst>
              <a:gd name="adj" fmla="val 4286"/>
            </a:avLst>
          </a:prstGeom>
          <a:solidFill>
            <a:srgbClr val="FFF7F7"/>
          </a:solidFill>
          <a:ln w="1397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85816" y="1481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96712" y="14630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31536" y="187452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Coding Agent 生成代码 diff、测试与解释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217152" y="1965960"/>
            <a:ext cx="448056" cy="0"/>
          </a:xfrm>
          <a:prstGeom prst="line">
            <a:avLst/>
          </a:prstGeom>
          <a:noFill/>
          <a:ln w="152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534656" y="1325880"/>
            <a:ext cx="170078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1481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64424" y="14630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99248" y="187452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Verification Harness 执行测试、静态分析、风险评分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802368" y="1325880"/>
            <a:ext cx="170078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21240" y="14813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232136" y="14630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写回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966960" y="187452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Compiler 将新经验凝蜕成 typed memory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49808" y="306324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3044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不再只有代码 diff，而是四类 diff 同时审查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7240" y="365760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" y="3785616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Diff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23544" y="4133088"/>
            <a:ext cx="22219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实际修改了哪些代码与配置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3566160" y="365760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12464" y="3785616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Diff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712464" y="4133088"/>
            <a:ext cx="22219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新增/修改/废弃哪些长期工程记忆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355080" y="365760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01384" y="3785616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Proof Diff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01384" y="4133088"/>
            <a:ext cx="22219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新增或运行哪些测试、规约、静态规则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9144000" y="3657600"/>
            <a:ext cx="2514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0304" y="3785616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Trace Diff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290304" y="4133088"/>
            <a:ext cx="2221992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如何工作、激活过哪些记忆、哪里失败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868680" y="55138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评审重点从“这几行代码是否对”上移到“这次 memory diff 是否正确描述系统意图、约束和证明”。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总体技术架构：Memory-native Repo Stack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13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108960" y="987552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FFF7F7"/>
          </a:solidFill>
          <a:ln w="1143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8813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Programming Interface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623560" y="107899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需求/约束/决策/策略/证明编辑与可视化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0" cy="118872"/>
          </a:xfrm>
          <a:prstGeom prst="line">
            <a:avLst/>
          </a:prstGeom>
          <a:noFill/>
          <a:ln w="1016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1709928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6A4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1051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Source Layer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623560" y="1801368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Intent / Constraint / Decision / Strategy / Proof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080760" y="2276856"/>
            <a:ext cx="0" cy="118872"/>
          </a:xfrm>
          <a:prstGeom prst="line">
            <a:avLst/>
          </a:prstGeom>
          <a:noFill/>
          <a:ln w="10160">
            <a:solidFill>
              <a:srgbClr val="6A4C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08960" y="2432304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2D5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53288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Filesystem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623560" y="252374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version / branch / diff / merge / permission / blame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6080760" y="2999232"/>
            <a:ext cx="0" cy="118872"/>
          </a:xfrm>
          <a:prstGeom prst="line">
            <a:avLst/>
          </a:prstGeom>
          <a:noFill/>
          <a:ln w="10160">
            <a:solidFill>
              <a:srgbClr val="2D5B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08960" y="3154680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ED6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2552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Scheduler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623560" y="3246120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activate / compress / suppress / writeback / decay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080760" y="3721608"/>
            <a:ext cx="0" cy="118872"/>
          </a:xfrm>
          <a:prstGeom prst="line">
            <a:avLst/>
          </a:prstGeom>
          <a:noFill/>
          <a:ln w="10160">
            <a:solidFill>
              <a:srgbClr val="ED6D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08960" y="3877056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1F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9776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Compiler Layer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623560" y="3968496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/ Claude Code / Cursor / OpenCode / 自研 Agent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080760" y="4443984"/>
            <a:ext cx="0" cy="118872"/>
          </a:xfrm>
          <a:prstGeom prst="line">
            <a:avLst/>
          </a:prstGeom>
          <a:noFill/>
          <a:ln w="10160">
            <a:solidFill>
              <a:srgbClr val="1F8A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08960" y="4599432"/>
            <a:ext cx="5943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1430">
            <a:solidFill>
              <a:srgbClr val="4E9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70001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Artifact + Proof Layer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623560" y="4690872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diff / tests / CI / review / telemetry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94360" y="1133856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A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12618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0664" y="1609344"/>
            <a:ext cx="18105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代码仓 / PR / Issue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/ Review / Trace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文档 / 事故 / 运行信号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24912" y="1600200"/>
            <a:ext cx="310896" cy="0"/>
          </a:xfrm>
          <a:prstGeom prst="line">
            <a:avLst/>
          </a:prstGeom>
          <a:noFill/>
          <a:ln w="12700">
            <a:solidFill>
              <a:srgbClr val="2D5B9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4360" y="31546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32826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人机协作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40664" y="3630168"/>
            <a:ext cx="18105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用户声明意图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提交记忆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Reviewer 审查 diff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24912" y="3611880"/>
            <a:ext cx="310896" cy="0"/>
          </a:xfrm>
          <a:prstGeom prst="line">
            <a:avLst/>
          </a:prstGeom>
          <a:noFill/>
          <a:ln w="127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528048" y="1133856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7FCF5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74352" y="12618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674352" y="1609344"/>
            <a:ext cx="18105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AGENTS.md / CLAUDE.md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Skills / MCP Context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 Checklist / CI Policy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9070848" y="1600200"/>
            <a:ext cx="384048" cy="0"/>
          </a:xfrm>
          <a:prstGeom prst="line">
            <a:avLst/>
          </a:prstGeom>
          <a:noFill/>
          <a:ln w="12700">
            <a:solidFill>
              <a:srgbClr val="4E9D2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528048" y="31546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74352" y="328269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674352" y="3630168"/>
            <a:ext cx="1810512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通过率 / 轨迹质量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失败归因 / 经验治理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下一轮策略更新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9070848" y="3611880"/>
            <a:ext cx="384048" cy="0"/>
          </a:xfrm>
          <a:prstGeom prst="line">
            <a:avLst/>
          </a:prstGeom>
          <a:noFill/>
          <a:ln w="12700">
            <a:solidFill>
              <a:srgbClr val="ED6D00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架构原则：开放接口，封闭编译器；兼容所有 Agent，沉淀自己的 Repo Memory Graph 与验证闭环。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关键技术一：Memory Compiler + Scheduler —— 真正的壁垒不是“更多记忆”，而是“何时激活记忆”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14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594360" y="96012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941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Compiler：把轨迹与经验凝蜕为 typed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691640"/>
            <a:ext cx="457200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1353312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Raw Trajectory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457200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1353312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Fragment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5760720" y="1691640"/>
            <a:ext cx="457200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34840" y="1353312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Error Pattern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457200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1353312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Canonical Rule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9509760" y="1691640"/>
            <a:ext cx="457200" cy="0"/>
          </a:xfrm>
          <a:prstGeom prst="line">
            <a:avLst/>
          </a:prstGeom>
          <a:noFill/>
          <a:ln w="1270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83880" y="1353312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Playbook Entry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10058400" y="1353312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7F7"/>
          </a:solidFill>
          <a:ln w="13970">
            <a:solidFill>
              <a:srgbClr val="C810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1572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Source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94360" y="260604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25877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Scheduler：控制激活、压缩、禁止、写回与衰减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" y="312724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3127248"/>
            <a:ext cx="73152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321868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Activate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877824" y="347472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按任务/路径/符号/失败信号激活最小必要记忆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416552" y="312724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16552" y="3127248"/>
            <a:ext cx="73152" cy="749808"/>
          </a:xfrm>
          <a:prstGeom prst="rect">
            <a:avLst/>
          </a:prstGeom>
          <a:solidFill>
            <a:srgbClr val="2D5B9A"/>
          </a:solidFill>
          <a:ln w="12700">
            <a:solidFill>
              <a:srgbClr val="2D5B9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321868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Compress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4581144" y="347472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把多跳证据压缩为 context pack，保留证明链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8119872" y="312724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9872" y="3127248"/>
            <a:ext cx="73152" cy="749808"/>
          </a:xfrm>
          <a:prstGeom prst="rect">
            <a:avLst/>
          </a:prstGeom>
          <a:solidFill>
            <a:srgbClr val="ED6D00"/>
          </a:solidFill>
          <a:ln w="12700">
            <a:solidFill>
              <a:srgbClr val="ED6D0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321868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Suppress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8284464" y="347472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在不相关或低置信场景禁止召回，避免干扰编码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13232" y="408736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4087368"/>
            <a:ext cx="73152" cy="74980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41788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Writeback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877824" y="443484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 PR merge、session 结束、失败归因后写回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416552" y="4087368"/>
            <a:ext cx="32918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16552" y="4087368"/>
            <a:ext cx="73152" cy="749808"/>
          </a:xfrm>
          <a:prstGeom prst="rect">
            <a:avLst/>
          </a:prstGeom>
          <a:solidFill>
            <a:srgbClr val="4E9D2D"/>
          </a:solidFill>
          <a:ln w="12700">
            <a:solidFill>
              <a:srgbClr val="4E9D2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81144" y="41788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Decay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4581144" y="4434840"/>
            <a:ext cx="3035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根据代码演进、验证结果与反例让记忆过期/降权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822960" y="5715000"/>
            <a:ext cx="10287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关键指标：activation precision、decay-aware recall、上下文预算占比、memory hit 后任务成功率提升、无效记忆干扰率。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关键技术二：Repo Memory Graph —— 从“代码片段检索”升级为“工程记忆图谱”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15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907792" y="1600200"/>
            <a:ext cx="1801368" cy="548640"/>
          </a:xfrm>
          <a:prstGeom prst="line">
            <a:avLst/>
          </a:prstGeom>
          <a:noFill/>
          <a:ln w="1143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7792" y="2834640"/>
            <a:ext cx="1801368" cy="-411480"/>
          </a:xfrm>
          <a:prstGeom prst="line">
            <a:avLst/>
          </a:prstGeom>
          <a:noFill/>
          <a:ln w="1143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07792" y="4069080"/>
            <a:ext cx="1801368" cy="-1280160"/>
          </a:xfrm>
          <a:prstGeom prst="line">
            <a:avLst/>
          </a:prstGeom>
          <a:noFill/>
          <a:ln w="1143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2148840"/>
            <a:ext cx="1691640" cy="-548640"/>
          </a:xfrm>
          <a:prstGeom prst="line">
            <a:avLst/>
          </a:prstGeom>
          <a:noFill/>
          <a:ln w="1143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2423160"/>
            <a:ext cx="1691640" cy="411480"/>
          </a:xfrm>
          <a:prstGeom prst="line">
            <a:avLst/>
          </a:prstGeom>
          <a:noFill/>
          <a:ln w="1143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60920" y="2788920"/>
            <a:ext cx="1691640" cy="1280160"/>
          </a:xfrm>
          <a:prstGeom prst="line">
            <a:avLst/>
          </a:prstGeom>
          <a:noFill/>
          <a:ln w="11430">
            <a:solidFill>
              <a:srgbClr val="8989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09160" y="1572768"/>
            <a:ext cx="2743200" cy="2011680"/>
          </a:xfrm>
          <a:prstGeom prst="ellipse">
            <a:avLst/>
          </a:prstGeom>
          <a:solidFill>
            <a:srgbClr val="FFF7F7"/>
          </a:solidFill>
          <a:ln w="1651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Graph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11704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12984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代码结构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832104" y="1645920"/>
            <a:ext cx="19933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/ 符号 / 调用 / 依赖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5800" y="240487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" y="25328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历史演进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832104" y="2880360"/>
            <a:ext cx="19933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/ PR / review / 共变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5800" y="363931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3767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测试证明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32104" y="4114800"/>
            <a:ext cx="19933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 / 失败测试 / 静态规则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52560" y="11704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8864" y="129844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业务记忆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198864" y="1645920"/>
            <a:ext cx="19933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意图 / 约束 / 决策 / 风险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052560" y="240487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98864" y="25328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执行轨迹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9198864" y="2880360"/>
            <a:ext cx="19933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行为 / 工具序列 / 失败归因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52560" y="363931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98864" y="376732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权限治理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198864" y="4114800"/>
            <a:ext cx="1993392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scope / owner / ACL / audit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68680" y="532180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核心突破：把 symbol、module、API、业务规则、测试、事故、owner、决策连接成可查询、可验证、可治理的长期工程记忆。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868680" y="57424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检索不只靠向量：Vector + BM25 + Graph PPR + RRF/MMR + 权限过滤 + 新鲜度/置信度衰减。</a:t>
            </a:r>
            <a:endParaRPr lang="en-US" sz="9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关键技术三：Verification Harness + Runtime Control Plane —— 把概率编译变成可信闭环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16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2898648" y="1828800"/>
            <a:ext cx="466344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118872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4173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风险评估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关键测试选择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约束/权限检查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687568" y="1828800"/>
            <a:ext cx="466344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74720" y="118872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4173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03320" y="1783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轨迹观测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偏差检测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资源/沙箱控制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476488" y="1828800"/>
            <a:ext cx="466344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118872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FF7F7"/>
          </a:solidFill>
          <a:ln w="1397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4173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1783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构建/单测/回归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静态分析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Proof Diff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9052560" y="1188720"/>
            <a:ext cx="22677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0" y="141732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写回后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81160" y="178308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经验置信度更新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负样本沉淀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策略反馈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58368" y="306324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0449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Runtime Control Plane 的企业级能力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84448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584448"/>
            <a:ext cx="73152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3675888"/>
            <a:ext cx="4910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权限边界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941832" y="3931920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/ module / memory scope / tool permission / secret redaction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355080" y="3584448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584448"/>
            <a:ext cx="73152" cy="713232"/>
          </a:xfrm>
          <a:prstGeom prst="rect">
            <a:avLst/>
          </a:prstGeom>
          <a:solidFill>
            <a:srgbClr val="2D5B9A"/>
          </a:solidFill>
          <a:ln w="12700">
            <a:solidFill>
              <a:srgbClr val="2D5B9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9672" y="3675888"/>
            <a:ext cx="4910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审计追踪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6519672" y="3931920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谁触发、哪个 agent、激活了哪些记忆、改了什么、验证了什么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77240" y="4498848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498848"/>
            <a:ext cx="73152" cy="713232"/>
          </a:xfrm>
          <a:prstGeom prst="rect">
            <a:avLst/>
          </a:prstGeom>
          <a:solidFill>
            <a:srgbClr val="ED6D00"/>
          </a:solidFill>
          <a:ln w="12700">
            <a:solidFill>
              <a:srgbClr val="ED6D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" y="4590288"/>
            <a:ext cx="4910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沙箱隔离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941832" y="4846320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worktree / container / network policy / resource limit / rollback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355080" y="4498848"/>
            <a:ext cx="5166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4498848"/>
            <a:ext cx="73152" cy="713232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9672" y="4590288"/>
            <a:ext cx="4910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人机闸口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6519672" y="4846320"/>
            <a:ext cx="4910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计划审批、风险审批、关键 memory diff 审核、异常打断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868680" y="58064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目的：不要求 Agent 永远正确，而是要求每一步可观测、可验证、可回滚、可归因、可沉淀。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应用场景：以三大关键场景和跨仓长程开发作为第一批穿刺战场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17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7F7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31673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华为云 / ICT 跨仓特性开发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1664208"/>
            <a:ext cx="48280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&gt;10 小时、&gt;3000 行、跨仓链路；重点验证需求定位、任务规划、测试闭环。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31673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鸿蒙生态迁移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55664" y="1664208"/>
            <a:ext cx="48280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Android / Java / Kotlin 到 ArkTS；重点验证 spec 抽取、UI/业务逻辑迁移与技能包。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31520" y="260604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73405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Rust 规模迁移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" y="3081528"/>
            <a:ext cx="48280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C/C++ 到 Rust 混合编程；重点验证架构决策、接口契约、迁移策略和回归证明。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5120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73405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算子生成与验证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55664" y="3081528"/>
            <a:ext cx="482803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DSL 伪码到 Ascend/CUDA 类算子；重点验证领域记忆、测试驱动生成和性能证明。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233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场景共性：不是“多写代码”，而是“跨语义层连续闭环”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4754880"/>
            <a:ext cx="402336" cy="402336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8371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745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 → 规约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71600" y="50200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把自然语言转成可追踪的结构化 intent / constraint / acceptance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3685032" y="4754880"/>
            <a:ext cx="402336" cy="402336"/>
          </a:xfrm>
          <a:prstGeom prst="ellipse">
            <a:avLst/>
          </a:prstGeom>
          <a:solidFill>
            <a:srgbClr val="2D5B9A"/>
          </a:solidFill>
          <a:ln w="12700">
            <a:solidFill>
              <a:srgbClr val="2D5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48371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745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规约 → 代码链路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87952" y="50200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 repo graph 找到显性/隐性依赖和影响范围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501384" y="4754880"/>
            <a:ext cx="402336" cy="402336"/>
          </a:xfrm>
          <a:prstGeom prst="ellipse">
            <a:avLst/>
          </a:prstGeom>
          <a:solidFill>
            <a:srgbClr val="ED6D00"/>
          </a:solidFill>
          <a:ln w="12700">
            <a:solidFill>
              <a:srgbClr val="ED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48371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04304" y="4745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 → 证明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004304" y="50200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自动选择测试、补充验证、生成风险解释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9317736" y="4754880"/>
            <a:ext cx="402336" cy="402336"/>
          </a:xfrm>
          <a:prstGeom prst="ellipse">
            <a:avLst/>
          </a:prstGeom>
          <a:solidFill>
            <a:srgbClr val="4E9D2D"/>
          </a:solidFill>
          <a:ln w="12700">
            <a:solidFill>
              <a:srgbClr val="4E9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17736" y="483717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20656" y="47457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证明 → 记忆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20656" y="50200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将成功/失败路径写回 playbook 和策略</a:t>
            </a:r>
            <a:endParaRPr lang="en-US" sz="7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关键交付件与评估指标：从“最终通过率”扩展到“记忆激活质量 + 过程闭环质量”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18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58368" y="987552"/>
            <a:ext cx="2176272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78992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交付件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971800" y="987552"/>
            <a:ext cx="283464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078992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核心能力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035040" y="987552"/>
            <a:ext cx="224028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078992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阶段点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458200" y="987552"/>
            <a:ext cx="2697480" cy="3474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07899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建议目标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58368" y="1371600"/>
            <a:ext cx="217627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48132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 Memory Graph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2971800" y="1371600"/>
            <a:ext cx="283464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148132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代码/PR/CI/Review/Trace 统一入图；支持结构召回与权限过滤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035040" y="1371600"/>
            <a:ext cx="22402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9048" y="148132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8458200" y="1371600"/>
            <a:ext cx="26974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22208" y="148132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关键上下文召回率 +30%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58368" y="2029968"/>
            <a:ext cx="2176272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2139696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Compiler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2971800" y="2029968"/>
            <a:ext cx="283464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2139696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轨迹→Fragment→Pattern→Rule→Playbook；memory diff 生成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035040" y="2029968"/>
            <a:ext cx="224028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213969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8458200" y="2029968"/>
            <a:ext cx="269748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2208" y="213969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有效经验召回率 ≥70%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217627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" y="279806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Scheduler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2971800" y="2688336"/>
            <a:ext cx="283464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5808" y="279806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激活/压缩/禁止/写回/衰减；上下文预算控制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035040" y="2688336"/>
            <a:ext cx="22402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9048" y="2798064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8458200" y="2688336"/>
            <a:ext cx="26974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22208" y="279806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无效记忆干扰率下降 ≥30%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658368" y="3346704"/>
            <a:ext cx="2176272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456432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Verification Harness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2971800" y="3346704"/>
            <a:ext cx="283464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5808" y="345643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测试选择、静态分析、风险评分、Proof Diff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035040" y="3346704"/>
            <a:ext cx="224028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45643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 1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8458200" y="3346704"/>
            <a:ext cx="269748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22208" y="345643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失败归因覆盖率 ≥70%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658368" y="4005072"/>
            <a:ext cx="2176272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" y="4114800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MemosFS / DSL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2971800" y="4005072"/>
            <a:ext cx="283464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35808" y="4114800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intent/constraint/decision/strategy/proof 可版本化编辑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6035040" y="4005072"/>
            <a:ext cx="22402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99048" y="411480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结项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8458200" y="4005072"/>
            <a:ext cx="2697480" cy="585216"/>
          </a:xfrm>
          <a:prstGeom prst="rect">
            <a:avLst/>
          </a:prstGeom>
          <a:solidFill>
            <a:srgbClr val="FFFFFF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22208" y="41148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复杂任务计划生成率 ≥80%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658368" y="4663440"/>
            <a:ext cx="2176272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2376" y="4773168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AgentOS 接入层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2971800" y="4663440"/>
            <a:ext cx="283464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35808" y="477316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MCP/HTTP/SQL/Cypher + Claude/Codex/Cursor/OpenCode adapters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6035040" y="4663440"/>
            <a:ext cx="224028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99048" y="4773168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结项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8458200" y="4663440"/>
            <a:ext cx="2697480" cy="585216"/>
          </a:xfrm>
          <a:prstGeom prst="rect">
            <a:avLst/>
          </a:prstGeom>
          <a:solidFill>
            <a:srgbClr val="FAFAFA"/>
          </a:solidFill>
          <a:ln w="5080">
            <a:solidFill>
              <a:srgbClr val="E6E6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22208" y="477316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端到端周期缩短 ≥50%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804672" y="5925312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评估从“agent 是否偶然做对”升级为：检索/规划/编辑/测试/写回每个阶段是否可观测、可归因、可改进。</a:t>
            </a:r>
            <a:endParaRPr lang="en-US" sz="10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三阶段路线图：先做 Agent Readiness，再做记忆仓系统，最后争夺标准与平台位置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19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3813048" y="2267712"/>
            <a:ext cx="54864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49808" y="1170432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7F7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44475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第一阶段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0–6 个月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9280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Repo-specific Memory Server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1069848" y="224028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接入代码仓/PR/CI/轨迹；自动生成 AGENTS.md/CLAUDE.md/skills；PR Memory Review；形成 flagship demo。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7562088" y="2267712"/>
            <a:ext cx="548640" cy="0"/>
          </a:xfrm>
          <a:prstGeom prst="line">
            <a:avLst/>
          </a:prstGeom>
          <a:noFill/>
          <a:ln w="1397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98848" y="1170432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2D5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44475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第二阶段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6–18 个月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4184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DSL + MemosFS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818888" y="224028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推出 Memory DSL、memory diff、proof diff；构建 Memory Scheduler；接入多 Agent 与企业权限治理。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247888" y="1170432"/>
            <a:ext cx="315468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144475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第三阶段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18–36 个月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90888" y="15361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Memory-native Platform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8567928" y="224028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 repo 记忆网络、memory protocol、playbook/strategy 市场；形成事实标准与数据飞轮。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49808" y="4617720"/>
            <a:ext cx="73152" cy="2926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4599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人团队建议配置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8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 Intelligence / PL</a:t>
            </a:r>
            <a:endParaRPr lang="en-US" sz="640" dirty="0"/>
          </a:p>
        </p:txBody>
      </p:sp>
      <p:sp>
        <p:nvSpPr>
          <p:cNvPr id="28" name="Shape 26"/>
          <p:cNvSpPr/>
          <p:nvPr/>
        </p:nvSpPr>
        <p:spPr>
          <a:xfrm>
            <a:off x="24688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5420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Infra / Graph / Search</a:t>
            </a:r>
            <a:endParaRPr lang="en-US" sz="640" dirty="0"/>
          </a:p>
        </p:txBody>
      </p:sp>
      <p:sp>
        <p:nvSpPr>
          <p:cNvPr id="31" name="Shape 29"/>
          <p:cNvSpPr/>
          <p:nvPr/>
        </p:nvSpPr>
        <p:spPr>
          <a:xfrm>
            <a:off x="40690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690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422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Runtime / MCP</a:t>
            </a:r>
            <a:endParaRPr lang="en-US" sz="640" dirty="0"/>
          </a:p>
        </p:txBody>
      </p:sp>
      <p:sp>
        <p:nvSpPr>
          <p:cNvPr id="34" name="Shape 32"/>
          <p:cNvSpPr/>
          <p:nvPr/>
        </p:nvSpPr>
        <p:spPr>
          <a:xfrm>
            <a:off x="56692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7424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Verification / Eval / CI</a:t>
            </a:r>
            <a:endParaRPr lang="en-US" sz="640" dirty="0"/>
          </a:p>
        </p:txBody>
      </p:sp>
      <p:sp>
        <p:nvSpPr>
          <p:cNvPr id="37" name="Shape 35"/>
          <p:cNvSpPr/>
          <p:nvPr/>
        </p:nvSpPr>
        <p:spPr>
          <a:xfrm>
            <a:off x="72694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426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Security / Governance</a:t>
            </a:r>
            <a:endParaRPr lang="en-US" sz="640" dirty="0"/>
          </a:p>
        </p:txBody>
      </p:sp>
      <p:sp>
        <p:nvSpPr>
          <p:cNvPr id="40" name="Shape 38"/>
          <p:cNvSpPr/>
          <p:nvPr/>
        </p:nvSpPr>
        <p:spPr>
          <a:xfrm>
            <a:off x="88696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9428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/ Workflow UX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10469880" y="5102352"/>
            <a:ext cx="1353312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69880" y="523036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543032" y="553212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Solution / DevRel</a:t>
            </a:r>
            <a:endParaRPr lang="en-US" sz="6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19456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资源壁垒与决策申请：开放接口，封闭编译器；兼容所有 Agent，沉淀自己的记忆图谱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20624" y="713232"/>
            <a:ext cx="11384280" cy="0"/>
          </a:xfrm>
          <a:prstGeom prst="line">
            <a:avLst/>
          </a:prstGeom>
          <a:noFill/>
          <a:ln w="26670">
            <a:solidFill>
              <a:srgbClr val="C810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6473952"/>
            <a:ext cx="1143000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5471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TECHNOLOGIES CO., LTD.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4434840" y="65471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89898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Memos / Repo Memory OS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6629400" y="6547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Huawei Confidential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11018520" y="6547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5957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Page 20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51560"/>
            <a:ext cx="73152" cy="6583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143000"/>
            <a:ext cx="5093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客户私有工程记忆图谱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50392" y="1399032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越早接入，repo、PR、review、incident、test 与 agent trace 越深，迁移成本越高。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400800" y="105156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051560"/>
            <a:ext cx="73152" cy="658368"/>
          </a:xfrm>
          <a:prstGeom prst="rect">
            <a:avLst/>
          </a:prstGeom>
          <a:solidFill>
            <a:srgbClr val="2D5B9A"/>
          </a:solidFill>
          <a:ln w="12700">
            <a:solidFill>
              <a:srgbClr val="2D5B9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143000"/>
            <a:ext cx="5093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2D5B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execution traces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565392" y="1399032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掌握不同 agent 在不同任务/上下文下的成功与失败，形成 routing 和 scheduler 数据资产。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20240"/>
            <a:ext cx="73152" cy="658368"/>
          </a:xfrm>
          <a:prstGeom prst="rect">
            <a:avLst/>
          </a:prstGeom>
          <a:solidFill>
            <a:srgbClr val="ED6D00"/>
          </a:solidFill>
          <a:ln w="12700">
            <a:solidFill>
              <a:srgbClr val="ED6D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011680"/>
            <a:ext cx="5093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D6D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私有 SWE-bench-like Eval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50392" y="2267712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用企业历史 bug、迁移、事故构建私有评测，支撑模型和 harness 持续优化。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400800" y="19202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920240"/>
            <a:ext cx="73152" cy="65836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011680"/>
            <a:ext cx="5093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A4C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Verification + Governance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565392" y="2267712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权限、安全、审计、sandbox、human-in-the-loop 是企业长程 Agent 落地的刚需。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5800" y="27889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2788920"/>
            <a:ext cx="73152" cy="658368"/>
          </a:xfrm>
          <a:prstGeom prst="rect">
            <a:avLst/>
          </a:prstGeom>
          <a:solidFill>
            <a:srgbClr val="4E9D2D"/>
          </a:solidFill>
          <a:ln w="12700">
            <a:solidFill>
              <a:srgbClr val="4E9D2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2880360"/>
            <a:ext cx="5093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4E9D2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事实标准入口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850392" y="3136392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MCP、AGENTS.md、CLAUDE.md、Skills、SQL/Cypher 全兼容，Memos 成为中立层。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49808" y="4224528"/>
            <a:ext cx="10698480" cy="1152144"/>
          </a:xfrm>
          <a:prstGeom prst="roundRect">
            <a:avLst>
              <a:gd name="adj" fmla="val 6349"/>
            </a:avLst>
          </a:prstGeom>
          <a:solidFill>
            <a:srgbClr val="FFF7F7"/>
          </a:solidFill>
          <a:ln w="1524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526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决策申请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194560" y="4443984"/>
            <a:ext cx="8823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23181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同意将 “Memos / Repo Memory OS：面向 Coding Agent 的记忆仓与认知中间层” 作为 Coding Agent 创新项目的远期关键方向，纳入立项方案的技术路线、交付件和场景穿刺规划。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60120" y="5669280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北极星：Git 解决代码版本控制；Memos 解决工程记忆版本控制。未来的软件公司不会只维护代码仓，而会维护记忆仓。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Huawei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Memos：从代码仓到记忆仓</dc:title>
  <dc:subject>Memos / Repo Memory OS 创新项目立项补充稿</dc:subject>
  <dc:creator>OpenAI</dc:creator>
  <cp:lastModifiedBy>OpenAI</cp:lastModifiedBy>
  <cp:revision>1</cp:revision>
  <dcterms:created xsi:type="dcterms:W3CDTF">2026-06-01T01:21:40Z</dcterms:created>
  <dcterms:modified xsi:type="dcterms:W3CDTF">2026-06-01T01:21:40Z</dcterms:modified>
</cp:coreProperties>
</file>